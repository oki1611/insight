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결제경로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9F2E6"/>
                </a:solidFill>
                <a:latin typeface="맑은 고딕"/>
              </a:rPr>
              <a:t>바이블 인사이트 (biblynote.com)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D6E8"/>
                </a:solidFill>
                <a:latin typeface="맑은 고딕"/>
              </a:rPr>
              <a:t>상호명 : 바이블 인사이트   |   대표자 : 오광일
사업자등록번호 : 251-07-03623   |   통신판매업 신고 : 제 2026-서울강남-03869 호
전화 : 010-8165-9688   |   이메일 : contact@biblynote.com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BC4"/>
                </a:solidFill>
                <a:latin typeface="맑은 고딕"/>
              </a:rPr>
              <a:t>2026. 08. 13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3A6B"/>
                </a:solidFill>
                <a:latin typeface="맑은 고딕"/>
              </a:rPr>
              <a:t>결제 흐름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783080" cy="1600200"/>
          </a:xfrm>
          <a:prstGeom prst="roundRect">
            <a:avLst/>
          </a:prstGeom>
          <a:solidFill>
            <a:srgbClr val="F2F7F4"/>
          </a:solidFill>
          <a:ln w="1524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200" b="1">
                <a:solidFill>
                  <a:srgbClr val="00704A"/>
                </a:solidFill>
                <a:latin typeface="맑은 고딕"/>
              </a:rPr>
              <a:t>①</a:t>
            </a:r>
          </a:p>
          <a:p>
            <a:pPr algn="ctr"/>
            <a:r>
              <a:rPr sz="1300" b="1">
                <a:solidFill>
                  <a:srgbClr val="1C2B46"/>
                </a:solidFill>
                <a:latin typeface="맑은 고딕"/>
              </a:rPr>
              <a:t>메인 화면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맑은 고딕"/>
              </a:rPr>
              <a:t>biblynote.com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04872" y="1920240"/>
            <a:ext cx="1783080" cy="1600200"/>
          </a:xfrm>
          <a:prstGeom prst="roundRect">
            <a:avLst/>
          </a:prstGeom>
          <a:solidFill>
            <a:srgbClr val="F2F7F4"/>
          </a:solidFill>
          <a:ln w="1524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200" b="1">
                <a:solidFill>
                  <a:srgbClr val="00704A"/>
                </a:solidFill>
                <a:latin typeface="맑은 고딕"/>
              </a:rPr>
              <a:t>②</a:t>
            </a:r>
          </a:p>
          <a:p>
            <a:pPr algn="ctr"/>
            <a:r>
              <a:rPr sz="1300" b="1">
                <a:solidFill>
                  <a:srgbClr val="1C2B46"/>
                </a:solidFill>
                <a:latin typeface="맑은 고딕"/>
              </a:rPr>
              <a:t>상품 선택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맑은 고딕"/>
              </a:rPr>
              <a:t>이용권·PDF 교재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920240"/>
            <a:ext cx="1783080" cy="1600200"/>
          </a:xfrm>
          <a:prstGeom prst="roundRect">
            <a:avLst/>
          </a:prstGeom>
          <a:solidFill>
            <a:srgbClr val="F2F7F4"/>
          </a:solidFill>
          <a:ln w="1524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200" b="1">
                <a:solidFill>
                  <a:srgbClr val="00704A"/>
                </a:solidFill>
                <a:latin typeface="맑은 고딕"/>
              </a:rPr>
              <a:t>③</a:t>
            </a:r>
          </a:p>
          <a:p>
            <a:pPr algn="ctr"/>
            <a:r>
              <a:rPr sz="1300" b="1">
                <a:solidFill>
                  <a:srgbClr val="1C2B46"/>
                </a:solidFill>
                <a:latin typeface="맑은 고딕"/>
              </a:rPr>
              <a:t>장바구니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맑은 고딕"/>
              </a:rPr>
              <a:t>담은 상품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920240"/>
            <a:ext cx="1783080" cy="1600200"/>
          </a:xfrm>
          <a:prstGeom prst="roundRect">
            <a:avLst/>
          </a:prstGeom>
          <a:solidFill>
            <a:srgbClr val="F2F7F4"/>
          </a:solidFill>
          <a:ln w="1524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200" b="1">
                <a:solidFill>
                  <a:srgbClr val="00704A"/>
                </a:solidFill>
                <a:latin typeface="맑은 고딕"/>
              </a:rPr>
              <a:t>④</a:t>
            </a:r>
          </a:p>
          <a:p>
            <a:pPr algn="ctr"/>
            <a:r>
              <a:rPr sz="1300" b="1">
                <a:solidFill>
                  <a:srgbClr val="1C2B46"/>
                </a:solidFill>
                <a:latin typeface="맑은 고딕"/>
              </a:rPr>
              <a:t>주문서 작성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맑은 고딕"/>
              </a:rPr>
              <a:t>이름·이메일·연락처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8" y="1920240"/>
            <a:ext cx="1783080" cy="1600200"/>
          </a:xfrm>
          <a:prstGeom prst="roundRect">
            <a:avLst/>
          </a:prstGeom>
          <a:solidFill>
            <a:srgbClr val="F2F7F4"/>
          </a:solidFill>
          <a:ln w="1524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200" b="1">
                <a:solidFill>
                  <a:srgbClr val="00704A"/>
                </a:solidFill>
                <a:latin typeface="맑은 고딕"/>
              </a:rPr>
              <a:t>⑤</a:t>
            </a:r>
          </a:p>
          <a:p>
            <a:pPr algn="ctr"/>
            <a:r>
              <a:rPr sz="1300" b="1">
                <a:solidFill>
                  <a:srgbClr val="1C2B46"/>
                </a:solidFill>
                <a:latin typeface="맑은 고딕"/>
              </a:rPr>
              <a:t>결제수단 선택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맑은 고딕"/>
              </a:rPr>
              <a:t>신용·체크카드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920240"/>
            <a:ext cx="1783080" cy="1600200"/>
          </a:xfrm>
          <a:prstGeom prst="roundRect">
            <a:avLst/>
          </a:prstGeom>
          <a:solidFill>
            <a:srgbClr val="F2F7F4"/>
          </a:solidFill>
          <a:ln w="15240">
            <a:solidFill>
              <a:srgbClr val="007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200" b="1">
                <a:solidFill>
                  <a:srgbClr val="00704A"/>
                </a:solidFill>
                <a:latin typeface="맑은 고딕"/>
              </a:rPr>
              <a:t>⑥</a:t>
            </a:r>
          </a:p>
          <a:p>
            <a:pPr algn="ctr"/>
            <a:r>
              <a:rPr sz="1300" b="1">
                <a:solidFill>
                  <a:srgbClr val="1C2B46"/>
                </a:solidFill>
                <a:latin typeface="맑은 고딕"/>
              </a:rPr>
              <a:t>결제창 호출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맑은 고딕"/>
              </a:rPr>
              <a:t>토스페이먼츠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46"/>
                </a:solidFill>
                <a:latin typeface="맑은 고딕"/>
              </a:rPr>
              <a:t>• 회원가입·로그인 없이 비회원으로 구매할 수 있습니다.
• 판매 상품은 모두 디지털 콘텐츠이며 실물 배송이 없습니다.
• 모든 상품의 서비스 제공기간은 12개월 이내이며, 상품 페이지에 명시되어 있습니다.
• 결제 완료 시 주문서에 입력한 이메일 주소를 기준으로 이용 권한이 즉시 부여됩니다.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① 메인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https://biblynote.com</a:t>
            </a:r>
          </a:p>
        </p:txBody>
      </p:sp>
      <p:pic>
        <p:nvPicPr>
          <p:cNvPr id="5" name="Picture 4" descr="s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255" y="1234440"/>
            <a:ext cx="591718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홈페이지 첫 화면입니다. 상단 메뉴의 '스토어'에서 상품 목록으로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② 상품 목록 ·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https://biblynote.com/booklet</a:t>
            </a:r>
          </a:p>
        </p:txBody>
      </p:sp>
      <p:pic>
        <p:nvPicPr>
          <p:cNvPr id="5" name="Picture 4" descr="s2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95" y="1234440"/>
            <a:ext cx="380390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판매 상품과 가격, 서비스 제공기간(12개월)이 함께 표시됩니다. 상품을 눌러 장바구니에 담습니다.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③ 장바구니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https://biblynote.com/booklet</a:t>
            </a:r>
          </a:p>
        </p:txBody>
      </p:sp>
      <p:pic>
        <p:nvPicPr>
          <p:cNvPr id="5" name="Picture 4" descr="s3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115" y="1234440"/>
            <a:ext cx="532546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담은 상품과 결제 예정 금액을 확인한 뒤 '주문서 작성 · 결제'로 이동합니다.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④ 주문서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https://biblynote.com/booklet</a:t>
            </a:r>
          </a:p>
        </p:txBody>
      </p:sp>
      <p:pic>
        <p:nvPicPr>
          <p:cNvPr id="5" name="Picture 4" descr="s4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661" y="1234440"/>
            <a:ext cx="426037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이름·연락처·이메일을 입력하고 결제수단(신용·체크카드)을 선택합니다. 구매조건·청약철회·환불 안내와 개인정보 수집·이용에 동의한 뒤 '결제하기'를 누릅니다. 로그인은 필요하지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⑤ 결제창 호출 (토스페이먼츠)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결제하기 클릭 시</a:t>
            </a:r>
          </a:p>
        </p:txBody>
      </p:sp>
      <p:pic>
        <p:nvPicPr>
          <p:cNvPr id="5" name="Picture 4" descr="s5_pay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382" y="1234440"/>
            <a:ext cx="492693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토스페이먼츠 결제창이 호출되어 상품명과 결제 금액이 표시됩니다. 계약 승인 후 라이브 키로 교체할 예정이라 현재는 테스트 연동 상태입니다.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⑥ 인증과정 상품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https://biblynote.com/academy</a:t>
            </a:r>
          </a:p>
        </p:txBody>
      </p:sp>
      <p:pic>
        <p:nvPicPr>
          <p:cNvPr id="5" name="Picture 4" descr="s6_acade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255" y="1234440"/>
            <a:ext cx="591718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온라인 인증과정도 동일한 방식으로 결제됩니다. 수강 기간(12개월)이 결제 전에 표시됩니다.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3A6B"/>
                </a:solidFill>
                <a:latin typeface="맑은 고딕"/>
              </a:rPr>
              <a:t>⑦ 사업자정보 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4A"/>
                </a:solidFill>
                <a:latin typeface="맑은 고딕"/>
              </a:rPr>
              <a:t>모든 페이지 하단(푸터)</a:t>
            </a:r>
          </a:p>
        </p:txBody>
      </p:sp>
      <p:pic>
        <p:nvPicPr>
          <p:cNvPr id="5" name="Picture 4" descr="s7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17" y="1234440"/>
            <a:ext cx="85894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상호명·대표자명·사업자등록번호·통신판매업 신고번호·사업장 주소·전화번호·이메일을 모든 페이지 하단에 표기하였습니다.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